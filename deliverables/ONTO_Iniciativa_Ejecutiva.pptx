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a10898351e4fe6" /><Relationship Type="http://schemas.openxmlformats.org/officeDocument/2006/relationships/extended-properties" Target="/docProps/app.xml" Id="Ra86a3adb74144afe" /><Relationship Type="http://schemas.openxmlformats.org/officeDocument/2006/relationships/officeDocument" Target="/ppt/presentation.xml" Id="R247e952acea548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0dede31814b36"/>
  </p:sldMasterIdLst>
  <p:notesMasterIdLst>
    <p:notesMasterId xmlns:r="http://schemas.openxmlformats.org/officeDocument/2006/relationships" r:id="Rd4bf66125cc24c72"/>
  </p:notesMasterIdLst>
  <p:sldIdLst>
    <p:sldId xmlns:r="http://schemas.openxmlformats.org/officeDocument/2006/relationships" id="256" r:id="R26bfebf8c20c4538"/>
    <p:sldId xmlns:r="http://schemas.openxmlformats.org/officeDocument/2006/relationships" id="257" r:id="R20332af9d11845ea"/>
    <p:sldId xmlns:r="http://schemas.openxmlformats.org/officeDocument/2006/relationships" id="258" r:id="R9996a499bcb148df"/>
    <p:sldId xmlns:r="http://schemas.openxmlformats.org/officeDocument/2006/relationships" id="259" r:id="Re4c0d740d7be4bd8"/>
    <p:sldId xmlns:r="http://schemas.openxmlformats.org/officeDocument/2006/relationships" id="260" r:id="R3226a25710a64b62"/>
    <p:sldId xmlns:r="http://schemas.openxmlformats.org/officeDocument/2006/relationships" id="261" r:id="R3017da940c224eb5"/>
    <p:sldId xmlns:r="http://schemas.openxmlformats.org/officeDocument/2006/relationships" id="262" r:id="R37df7b57929c4dd1"/>
    <p:sldId xmlns:r="http://schemas.openxmlformats.org/officeDocument/2006/relationships" id="263" r:id="R7406775ed8474fd3"/>
    <p:sldId xmlns:r="http://schemas.openxmlformats.org/officeDocument/2006/relationships" id="264" r:id="R82234ea5a7914a0e"/>
    <p:sldId xmlns:r="http://schemas.openxmlformats.org/officeDocument/2006/relationships" id="265" r:id="Re8f9cea08fb74d73"/>
    <p:sldId xmlns:r="http://schemas.openxmlformats.org/officeDocument/2006/relationships" id="266" r:id="Rccff6bdf32e440d4"/>
    <p:sldId xmlns:r="http://schemas.openxmlformats.org/officeDocument/2006/relationships" id="267" r:id="R3612ce1649534433"/>
    <p:sldId xmlns:r="http://schemas.openxmlformats.org/officeDocument/2006/relationships" id="268" r:id="Ra876d2c876274c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e7609b5d7d4853" /><Relationship Type="http://schemas.openxmlformats.org/officeDocument/2006/relationships/slideMaster" Target="/ppt/slideMasters/slideMaster1.xml" Id="Rdbf0dede31814b36" /><Relationship Type="http://schemas.openxmlformats.org/officeDocument/2006/relationships/notesMaster" Target="/ppt/notesMasters/notesMaster1.xml" Id="Rd4bf66125cc24c72" /><Relationship Type="http://schemas.openxmlformats.org/officeDocument/2006/relationships/presProps" Target="/ppt/presProps.xml" Id="Rca83c8ac06d14839" /><Relationship Type="http://schemas.openxmlformats.org/officeDocument/2006/relationships/tableStyles" Target="/ppt/tableStyles.xml" Id="Rdf152479ece541fa" /><Relationship Type="http://schemas.openxmlformats.org/officeDocument/2006/relationships/slide" Target="/ppt/slides/slide1.xml" Id="R26bfebf8c20c4538" /><Relationship Type="http://schemas.openxmlformats.org/officeDocument/2006/relationships/slide" Target="/ppt/slides/slide2.xml" Id="R20332af9d11845ea" /><Relationship Type="http://schemas.openxmlformats.org/officeDocument/2006/relationships/slide" Target="/ppt/slides/slide3.xml" Id="R9996a499bcb148df" /><Relationship Type="http://schemas.openxmlformats.org/officeDocument/2006/relationships/slide" Target="/ppt/slides/slide4.xml" Id="Re4c0d740d7be4bd8" /><Relationship Type="http://schemas.openxmlformats.org/officeDocument/2006/relationships/slide" Target="/ppt/slides/slide5.xml" Id="R3226a25710a64b62" /><Relationship Type="http://schemas.openxmlformats.org/officeDocument/2006/relationships/slide" Target="/ppt/slides/slide6.xml" Id="R3017da940c224eb5" /><Relationship Type="http://schemas.openxmlformats.org/officeDocument/2006/relationships/slide" Target="/ppt/slides/slide7.xml" Id="R37df7b57929c4dd1" /><Relationship Type="http://schemas.openxmlformats.org/officeDocument/2006/relationships/slide" Target="/ppt/slides/slide8.xml" Id="R7406775ed8474fd3" /><Relationship Type="http://schemas.openxmlformats.org/officeDocument/2006/relationships/slide" Target="/ppt/slides/slide9.xml" Id="R82234ea5a7914a0e" /><Relationship Type="http://schemas.openxmlformats.org/officeDocument/2006/relationships/slide" Target="/ppt/slides/slide10.xml" Id="Re8f9cea08fb74d73" /><Relationship Type="http://schemas.openxmlformats.org/officeDocument/2006/relationships/slide" Target="/ppt/slides/slide11.xml" Id="Rccff6bdf32e440d4" /><Relationship Type="http://schemas.openxmlformats.org/officeDocument/2006/relationships/slide" Target="/ppt/slides/slide12.xml" Id="R3612ce1649534433" /><Relationship Type="http://schemas.openxmlformats.org/officeDocument/2006/relationships/slide" Target="/ppt/slides/slide13.xml" Id="Ra876d2c876274c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2b1b98ad1c40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bf0c8693db4068" /><Relationship Type="http://schemas.openxmlformats.org/officeDocument/2006/relationships/notesMaster" Target="/ppt/notesMasters/notesMaster1.xml" Id="Rb9098c8ba2d743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ee29a332a84cfe" /><Relationship Type="http://schemas.openxmlformats.org/officeDocument/2006/relationships/notesMaster" Target="/ppt/notesMasters/notesMaster1.xml" Id="R48cf54519ead43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7ae31dc8da4870" /><Relationship Type="http://schemas.openxmlformats.org/officeDocument/2006/relationships/notesMaster" Target="/ppt/notesMasters/notesMaster1.xml" Id="Rb6a4c486ce9549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4637d0632041ac" /><Relationship Type="http://schemas.openxmlformats.org/officeDocument/2006/relationships/notesMaster" Target="/ppt/notesMasters/notesMaster1.xml" Id="Rfb58c848049244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328b9ca2df4267" /><Relationship Type="http://schemas.openxmlformats.org/officeDocument/2006/relationships/notesMaster" Target="/ppt/notesMasters/notesMaster1.xml" Id="R4929a35c02364e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6398c504974f42" /><Relationship Type="http://schemas.openxmlformats.org/officeDocument/2006/relationships/notesMaster" Target="/ppt/notesMasters/notesMaster1.xml" Id="R023f88cf0d5243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493d1de3284439" /><Relationship Type="http://schemas.openxmlformats.org/officeDocument/2006/relationships/notesMaster" Target="/ppt/notesMasters/notesMaster1.xml" Id="R14e7de79a84149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575622bc66497e" /><Relationship Type="http://schemas.openxmlformats.org/officeDocument/2006/relationships/notesMaster" Target="/ppt/notesMasters/notesMaster1.xml" Id="R8d22d043ba264c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e8ff4f04e14885" /><Relationship Type="http://schemas.openxmlformats.org/officeDocument/2006/relationships/notesMaster" Target="/ppt/notesMasters/notesMaster1.xml" Id="R020ba099e7bd46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a34bcd35a34f8e" /><Relationship Type="http://schemas.openxmlformats.org/officeDocument/2006/relationships/notesMaster" Target="/ppt/notesMasters/notesMaster1.xml" Id="R1cc1aa6e42b84e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ad48714cea4422" /><Relationship Type="http://schemas.openxmlformats.org/officeDocument/2006/relationships/notesMaster" Target="/ppt/notesMasters/notesMaster1.xml" Id="R53449aa7118d47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25df6a1ba94ab4" /><Relationship Type="http://schemas.openxmlformats.org/officeDocument/2006/relationships/notesMaster" Target="/ppt/notesMasters/notesMaster1.xml" Id="R348034c1262946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f8388c73214487" /><Relationship Type="http://schemas.openxmlformats.org/officeDocument/2006/relationships/notesMaster" Target="/ppt/notesMasters/notesMaster1.xml" Id="R64e7197cb6ee47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f8223a4fb40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bd6f5bd2074406" /><Relationship Type="http://schemas.openxmlformats.org/officeDocument/2006/relationships/slideLayout" Target="/ppt/slideLayouts/slideLayout1.xml" Id="R91fb5dd47af04f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fb5dd47af04f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6a46c64634d22" /><Relationship Type="http://schemas.openxmlformats.org/officeDocument/2006/relationships/notesSlide" Target="/ppt/notesSlides/notesSlide1.xml" Id="R216f40c58d0c47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56a6822bb4207" /><Relationship Type="http://schemas.openxmlformats.org/officeDocument/2006/relationships/notesSlide" Target="/ppt/notesSlides/notesSlide2.xml" Id="R3658079edeb64c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134d2278043c5" /><Relationship Type="http://schemas.openxmlformats.org/officeDocument/2006/relationships/notesSlide" Target="/ppt/notesSlides/notesSlide3.xml" Id="R8932da63d84044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529d37deb4d15" /><Relationship Type="http://schemas.openxmlformats.org/officeDocument/2006/relationships/notesSlide" Target="/ppt/notesSlides/notesSlide4.xml" Id="Re7a27ec84bd548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f9487c4b9450c" /><Relationship Type="http://schemas.openxmlformats.org/officeDocument/2006/relationships/notesSlide" Target="/ppt/notesSlides/notesSlide5.xml" Id="Reb1baa91a08f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9062e99db405a" /><Relationship Type="http://schemas.openxmlformats.org/officeDocument/2006/relationships/notesSlide" Target="/ppt/notesSlides/notesSlide6.xml" Id="Raf0a48e1a40245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e949fe01b44af" /><Relationship Type="http://schemas.openxmlformats.org/officeDocument/2006/relationships/notesSlide" Target="/ppt/notesSlides/notesSlide7.xml" Id="Rc9896161163142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e10e176164ed8" /><Relationship Type="http://schemas.openxmlformats.org/officeDocument/2006/relationships/notesSlide" Target="/ppt/notesSlides/notesSlide8.xml" Id="R6ac3ae5832ea4b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647e2b8eb483d" /><Relationship Type="http://schemas.openxmlformats.org/officeDocument/2006/relationships/notesSlide" Target="/ppt/notesSlides/notesSlide9.xml" Id="R7b4b001f391245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e8a9d53d9449e" /><Relationship Type="http://schemas.openxmlformats.org/officeDocument/2006/relationships/notesSlide" Target="/ppt/notesSlides/notesSlide10.xml" Id="R43293ba9cd334a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37da443b04f42" /><Relationship Type="http://schemas.openxmlformats.org/officeDocument/2006/relationships/notesSlide" Target="/ppt/notesSlides/notesSlide11.xml" Id="Rc09aa1439f094b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c7488e3b448f7" /><Relationship Type="http://schemas.openxmlformats.org/officeDocument/2006/relationships/notesSlide" Target="/ppt/notesSlides/notesSlide12.xml" Id="Rc9120fb93f574c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bf7b52fea4808" /><Relationship Type="http://schemas.openxmlformats.org/officeDocument/2006/relationships/notesSlide" Target="/ppt/notesSlides/notesSlide13.xml" Id="R09fd9a14387d4a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7890C-06F3-45FD-9E0E-998277F6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76D2"/>
                </a:solidFill>
              </a:defRPr>
            </a:pPr>
            <a:r>
              <a:rPr sz="1275" b="1">
                <a:solidFill>
                  <a:srgbClr val="2176D2"/>
                </a:solidFill>
              </a:rPr>
              <a:t>ONTO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031CA-E736-44B1-BA32-3C4E7F64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00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1625"/>
                </a:solidFill>
              </a:defRPr>
            </a:pPr>
            <a:r>
              <a:rPr sz="4650" b="1">
                <a:solidFill>
                  <a:srgbClr val="0B1625"/>
                </a:solidFill>
              </a:rPr>
              <a:t>Convertir datos dispersos</a:t>
            </a:r>
          </a:p>
          <a:p xmlns:a="http://schemas.openxmlformats.org/drawingml/2006/main">
            <a:pPr algn="l">
              <a:defRPr sz="4650" b="1">
                <a:solidFill>
                  <a:srgbClr val="0B1625"/>
                </a:solidFill>
              </a:defRPr>
            </a:pPr>
            <a:r>
              <a:rPr sz="4650" b="1">
                <a:solidFill>
                  <a:srgbClr val="0B1625"/>
                </a:solidFill>
              </a:rPr>
              <a:t>en conocimiento que impulsa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44F29-57DC-4748-9B2A-438A7435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16F"/>
                </a:solidFill>
              </a:defRPr>
            </a:pPr>
            <a:r>
              <a:rPr sz="1800" b="0">
                <a:solidFill>
                  <a:srgbClr val="52616F"/>
                </a:solidFill>
              </a:rPr>
              <a:t>Una propuesta de valor para organizaciones que necesitan entender, gobernar y usar mejor sus activos de información.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CDD44-956B-4796-AA9F-3939A4F0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38200"/>
            <a:ext cx="23050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7509F-018D-44E0-A7BA-F8E471F6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200150"/>
            <a:ext cx="1657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EB72E-397B-42FE-93D4-7CD91104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47950"/>
            <a:ext cx="1657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09799-2E76-4CEC-9383-D8F97B70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095750"/>
            <a:ext cx="165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5DA84-C055-48D4-8B1E-0278C23C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240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1D37E-A7C9-4F25-9D53-EB4E0650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CONOCIMIENTO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D1641-5A64-4EDD-8440-DF2219F9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338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625"/>
                </a:solidFill>
              </a:defRPr>
            </a:pPr>
            <a:r>
              <a:rPr sz="975" b="1">
                <a:solidFill>
                  <a:srgbClr val="0B1625"/>
                </a:solidFill>
              </a:rPr>
              <a:t>DECISIÓN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9BFF2-619B-4300-8CE8-AF4C1F3B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6F"/>
                </a:solidFill>
              </a:defRPr>
            </a:pPr>
            <a:r>
              <a:rPr sz="1125" b="1">
                <a:solidFill>
                  <a:srgbClr val="52616F"/>
                </a:solidFill>
              </a:rPr>
              <a:t>Executive overview · Agosto 2026</a:t>
            </a:r>
          </a:p>
        </p:txBody>
      </p:sp>
    </p:spTree>
    <p:extLst>
      <p:ext uri="{BB962C8B-B14F-4D97-AF65-F5344CB8AC3E}">
        <p14:creationId xmlns:p14="http://schemas.microsoft.com/office/powerpoint/2010/main" val="17874864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DE8DA-88D0-4B5F-97AA-CFFA24E0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EL DESAFÍO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5B6F6-85FF-4A4F-A117-746BD378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La barrera no es la falta de datos: es la falta de significado confiable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4751D-81CC-43F2-A0D1-7364249B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77CBB-A8CB-4443-B542-A95B3E8F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4062E-9450-471F-A254-B7568881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12BBB-0CD4-447A-B9AA-93ED5FC6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BBC0A-A3E3-480F-9E07-7DF62DA6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16F"/>
                </a:solidFill>
              </a:defRPr>
            </a:pPr>
            <a:r>
              <a:rPr sz="1800" b="0">
                <a:solidFill>
                  <a:srgbClr val="52616F"/>
                </a:solidFill>
              </a:rPr>
              <a:t>Las organizaciones ya tienen modelos, tableros, reglas y documentación. El problema es que ese conocimiento vive fragmentado, es difícil de validar y casi imposible de reutilizar con seguridad.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C683D-0A91-4EE8-8961-9C5F9D66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E5981-9C3B-4332-B843-40BBBF80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C7323-EE56-46B0-81D4-1BF5A8F5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DATOS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46623-ACBC-486D-BE32-E6A2DF85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Activos abundantes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C58C6-1145-4938-BCEB-7DD6A3E5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BI, warehouse, lakehouse, reportes, procesos y documentos repartidos entre equipos.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436BC-3C93-4E54-98B2-26C6ADDC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71875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FBF73-B70B-47F8-8734-40968EFD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7187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A2B"/>
          </a:solidFill>
          <a:ln xmlns:a="http://schemas.openxmlformats.org/drawingml/2006/main" w="9525">
            <a:solidFill>
              <a:srgbClr val="E28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2E098-092C-48F4-9C4B-B216BD2A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004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28A2B"/>
                </a:solidFill>
              </a:defRPr>
            </a:pPr>
            <a:r>
              <a:rPr sz="975" b="1">
                <a:solidFill>
                  <a:srgbClr val="E28A2B"/>
                </a:solidFill>
              </a:rPr>
              <a:t>PROBLEMA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45F78-9AC4-4029-AFDD-7729F2E3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24325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Contexto perdido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1438F-40BC-4195-9726-B0622342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529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Las definiciones cambian, las reglas quedan implícitas y las decisiones dependen de memoria experta.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8282A-5174-4D32-BBAE-7393B7B1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6C685-5347-4909-812D-95F1D13E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C63"/>
          </a:solidFill>
          <a:ln xmlns:a="http://schemas.openxmlformats.org/drawingml/2006/main" w="9525">
            <a:solidFill>
              <a:srgbClr val="B24C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426F7-FFB6-44A8-99CB-82C9F7CC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004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4C63"/>
                </a:solidFill>
              </a:defRPr>
            </a:pPr>
            <a:r>
              <a:rPr sz="975" b="1">
                <a:solidFill>
                  <a:srgbClr val="B24C63"/>
                </a:solidFill>
              </a:rPr>
              <a:t>CONSECUENCIA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40121-E29F-413C-B026-03C66F5C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Valor difícil de escalar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43378-E127-4A43-B742-0D7377C4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529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Cada nuevo caso de uso vuelve a reconstruir el significado desde cero.</a:t>
            </a:r>
          </a:p>
        </p:txBody>
      </p:sp>
    </p:spTree>
    <p:extLst>
      <p:ext uri="{BB962C8B-B14F-4D97-AF65-F5344CB8AC3E}">
        <p14:creationId xmlns:p14="http://schemas.microsoft.com/office/powerpoint/2010/main" val="7051349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502A8-1C51-4856-A54A-8B1ED191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IMPACTO DE NEGOCIO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1CD6A-FE47-47CC-BC78-8A9A79C9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Cuando el conocimiento no está gobernado, la operación se vuelve más lenta y menos confiable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C276C-A14D-4025-9A53-B134A29B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4E1DD-A2D1-442A-AA1D-BFAA191C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94883-D802-4C49-923D-62F6B45A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CC688-7BE5-46BC-BC7B-C0CF75DB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BA468-D6FE-435F-A2A8-81934291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91294-77E0-4054-8D94-778C35BD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49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5"/>
                </a:solidFill>
              </a:defRPr>
            </a:pPr>
            <a:r>
              <a:rPr sz="1650" b="1">
                <a:solidFill>
                  <a:srgbClr val="0B1625"/>
                </a:solidFill>
              </a:rPr>
              <a:t>Decisiones con fricción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27ED0-6595-4E11-A00B-B4E63B16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El equipo dedica tiempo a reconciliar definiciones antes de poder discutir resultados.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109B4-E009-4D3F-B9DD-ADF22EFC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5FD0A-C4DC-4199-BBC2-92240CD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9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5"/>
                </a:solidFill>
              </a:defRPr>
            </a:pPr>
            <a:r>
              <a:rPr sz="1650" b="1">
                <a:solidFill>
                  <a:srgbClr val="0B1625"/>
                </a:solidFill>
              </a:rPr>
              <a:t>Dependencia de especialistas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229D4-9DF0-4FEC-AC4E-7F4C9600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La lectura correcta de modelos y reglas queda concentrada en pocas personas.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45983-1B81-4C8D-AC29-C1BE292C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BED10-72D8-4322-BE1D-F93EFD90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449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5"/>
                </a:solidFill>
              </a:defRPr>
            </a:pPr>
            <a:r>
              <a:rPr sz="1650" b="1">
                <a:solidFill>
                  <a:srgbClr val="0B1625"/>
                </a:solidFill>
              </a:rPr>
              <a:t>Automatización con riesgo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A2137-60BC-41F0-87A2-9B7BB127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50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Los asistentes pueden responder, pero no siempre saben qué fuente, definición o límite respetar.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62B91-FD53-41B7-A5A9-B0BA43C4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1F2C0-3B6F-4A0D-93FD-0568BEED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449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5"/>
                </a:solidFill>
              </a:defRPr>
            </a:pPr>
            <a:r>
              <a:rPr sz="1650" b="1">
                <a:solidFill>
                  <a:srgbClr val="0B1625"/>
                </a:solidFill>
              </a:rPr>
              <a:t>Iniciativas que no escalan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8A98F-5D45-4E9A-B787-D78D7CCC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433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Cada área documenta a su manera y el conocimiento no se convierte en un activo común.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CD9DC-5405-4914-AC32-7351725D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63FEF-A6D5-4567-84F4-6E7FE706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 oportunidad: convertir conocimiento existente en una base reutilizable, auditable y preparada para agentes.</a:t>
            </a:r>
          </a:p>
        </p:txBody>
      </p:sp>
    </p:spTree>
    <p:extLst>
      <p:ext uri="{BB962C8B-B14F-4D97-AF65-F5344CB8AC3E}">
        <p14:creationId xmlns:p14="http://schemas.microsoft.com/office/powerpoint/2010/main" val="2184132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ECA61-7C47-4C3F-A57B-7EB2EEF6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LA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D62F0-C612-47A7-B2EE-637528B0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ONTO convierte evidencia dispersa en conocimiento listo para ser usado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06509-1D82-4F96-B710-F470D78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E98BB-762D-47E7-83E6-E09468FE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A47B9-CF20-4B34-834E-52192369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6506A-5A85-41A9-BC7D-63E28659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CB5A4-F8E5-4204-BBBA-3D17BBEE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F"/>
                </a:solidFill>
              </a:defRPr>
            </a:pPr>
            <a:r>
              <a:rPr sz="1725" b="0">
                <a:solidFill>
                  <a:srgbClr val="52616F"/>
                </a:solidFill>
              </a:rPr>
              <a:t>No es otra capa de documentación. Es una fábrica de conocimiento que ordena lo que la organización ya sabe, lo valida con las personas correctas y lo vuelve utilizable para consultas y agentes.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B0A7E-F1A8-46FB-A37F-D788FE25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067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4228D-1DE8-4EA2-B665-D6CCF86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76D2"/>
                </a:solidFill>
              </a:defRPr>
            </a:pPr>
            <a:r>
              <a:rPr sz="2250" b="1">
                <a:solidFill>
                  <a:srgbClr val="2176D2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BDCEE-0403-4BC6-B440-152E9C26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Inventariar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9835E-4F90-41AF-B472-50D22AEA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Entender activos, contexto y brechas.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D5BEA-20F8-416E-8574-1101684B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433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D2"/>
                </a:solidFill>
              </a:defRPr>
            </a:pPr>
            <a:r>
              <a:rPr sz="2250" b="1">
                <a:solidFill>
                  <a:srgbClr val="2176D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1480C-7EFE-4826-8D48-2C849EA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29000"/>
            <a:ext cx="3067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580EF-D805-4606-8D54-3CFA1C1F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76D2"/>
                </a:solidFill>
              </a:defRPr>
            </a:pPr>
            <a:r>
              <a:rPr sz="2250" b="1">
                <a:solidFill>
                  <a:srgbClr val="2176D2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81754-10CB-4D04-A9D1-AC0EAC2C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Validar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3710E-FBFE-4162-A106-50F1826A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Transformar hallazgos en conocimiento revisable.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C7011-FB70-4298-9CA0-C296EFBC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433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D2"/>
                </a:solidFill>
              </a:defRPr>
            </a:pPr>
            <a:r>
              <a:rPr sz="2250" b="1">
                <a:solidFill>
                  <a:srgbClr val="2176D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3A13E-EFB1-4306-9B33-58101A0E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29000"/>
            <a:ext cx="3067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954ED-8878-499C-A787-3348776C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76D2"/>
                </a:solidFill>
              </a:defRPr>
            </a:pPr>
            <a:r>
              <a:rPr sz="2250" b="1">
                <a:solidFill>
                  <a:srgbClr val="2176D2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E1531-E434-4AB2-8C3E-8A12AD04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Usar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AF31B-A5B7-4CEC-88B5-7C60F6FF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Responder e investigar con evidencia y límites.</a:t>
            </a:r>
          </a:p>
        </p:txBody>
      </p:sp>
    </p:spTree>
    <p:extLst>
      <p:ext uri="{BB962C8B-B14F-4D97-AF65-F5344CB8AC3E}">
        <p14:creationId xmlns:p14="http://schemas.microsoft.com/office/powerpoint/2010/main" val="17690717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03CD2-3C9D-4C3B-9BC6-5BCBD0AF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EL PORTAFOLIO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00479-3D11-4197-8E9B-F8370AFC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Tres productos conectados, cada uno con un resultado de negocio claro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3C31D-B4CE-40BD-BEED-1FB94FB9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43CCF-F98A-44EC-851C-2299A888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DF8B9-A997-4C46-886B-3089EDD5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0BEDE-E107-4588-BE69-6ED1FEF8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64757-8837-4BAD-8AA8-14385AB5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9803F-5431-42A2-BB7E-85B69382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B7D99-0E80-401F-BEAD-088DDB42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PRODUCTO 1 ·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91436-F6A0-4266-B9C1-5FC02ADB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Saber dónde estamos parados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DDB31-FED6-43D4-99FA-1C724574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Assessment de activos y documentación: cobertura, evidencia, score de readiness y backlog de brechas.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F94D6-CB0A-4496-8735-2DA2A58A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2C2B9-3346-4787-9DB8-43B127CB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B7"/>
          </a:solidFill>
          <a:ln xmlns:a="http://schemas.openxmlformats.org/drawingml/2006/main" w="9525">
            <a:solidFill>
              <a:srgbClr val="6A62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237DA-1938-4DF1-A4F3-36203357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62B7"/>
                </a:solidFill>
              </a:defRPr>
            </a:pPr>
            <a:r>
              <a:rPr sz="975" b="1">
                <a:solidFill>
                  <a:srgbClr val="6A62B7"/>
                </a:solidFill>
              </a:rPr>
              <a:t>PRODUCTO 2 · NEXO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CB923-EFAA-40B0-AB52-EF2FBF3F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Convertir hallazgos en conocimiento aprobable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395BE-EF2B-4ACC-8680-99096DD6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Candidatos trazables, revisión humana, consolidación y releases que separan lo validado de lo supuesto.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3FE19-A507-4F59-9334-960DC7F4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B7FFE-63E3-4CA2-B685-B68BA5A6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936F"/>
          </a:solidFill>
          <a:ln xmlns:a="http://schemas.openxmlformats.org/drawingml/2006/main" w="9525">
            <a:solidFill>
              <a:srgbClr val="1A93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76571-6011-449D-9AAE-BC83EDB8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936F"/>
                </a:solidFill>
              </a:defRPr>
            </a:pPr>
            <a:r>
              <a:rPr sz="975" b="1">
                <a:solidFill>
                  <a:srgbClr val="1A936F"/>
                </a:solidFill>
              </a:rPr>
              <a:t>PRODUCTO 3 · ARGOS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44E48-C893-435E-860E-6C1543D4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Usar conocimiento con contexto y límites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8DB58-2C0B-41F7-8AC2-AD5CC9A2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Investigador que responde sólo dentro de una release, cita evidencia y se abstiene cuando no corresponde.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2E1DB-62AF-44B6-8FC4-6729B3F2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5"/>
                </a:solidFill>
              </a:defRPr>
            </a:pPr>
            <a:r>
              <a:rPr sz="1650" b="1">
                <a:solidFill>
                  <a:srgbClr val="0B1625"/>
                </a:solidFill>
              </a:rPr>
              <a:t>Cada producto puede aportar valor por sí mismo. Juntos crean una capacidad continua de conocimiento gobernado.</a:t>
            </a:r>
          </a:p>
        </p:txBody>
      </p:sp>
    </p:spTree>
    <p:extLst>
      <p:ext uri="{BB962C8B-B14F-4D97-AF65-F5344CB8AC3E}">
        <p14:creationId xmlns:p14="http://schemas.microsoft.com/office/powerpoint/2010/main" val="1175420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9AC01-0F67-4FCB-99FE-6FD9925B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A580D-CEB3-4001-9062-7D467514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Antes de transformar, hay que saber qué conocimiento ya existe y qué falta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76943-2FA6-48B2-9D75-B2170720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8724E-3586-40F7-B6D5-02122A61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DB92E-1ADF-4D54-BE69-663F2399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6FA9A-D906-4BD6-B862-A5D2CF8B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CF988-889B-4682-A586-5F601CE1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38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F"/>
                </a:solidFill>
              </a:defRPr>
            </a:pPr>
            <a:r>
              <a:rPr sz="1725" b="0">
                <a:solidFill>
                  <a:srgbClr val="52616F"/>
                </a:solidFill>
              </a:rPr>
              <a:t>Atlas ofrece una conversación concreta con el negocio y los equipos de datos: qué activos son útiles, qué definiciones son confiables y dónde están los riesgos de interpretación.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E0180-AF8B-4E74-ACA9-E5A77EFC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99B92-B3D7-434D-8A08-D97EB84F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00250"/>
            <a:ext cx="335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5"/>
                </a:solidFill>
              </a:defRPr>
            </a:pPr>
            <a:r>
              <a:rPr sz="1650" b="1">
                <a:solidFill>
                  <a:srgbClr val="0B1625"/>
                </a:solidFill>
              </a:rPr>
              <a:t>Inventario común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A8EB0-FAFD-4026-BA28-D5F57D37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1457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Modelos, reportes y documentación visibles en un mismo diagnóstico.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8216C-29D0-40E3-A048-99D33BB6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76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C9D3A-8DD5-432C-AD5B-1B4E071A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28950"/>
            <a:ext cx="335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5"/>
                </a:solidFill>
              </a:defRPr>
            </a:pPr>
            <a:r>
              <a:rPr sz="1650" b="1">
                <a:solidFill>
                  <a:srgbClr val="0B1625"/>
                </a:solidFill>
              </a:rPr>
              <a:t>Readiness explicable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02D68-95CA-47A3-AB1E-2FFA6F30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4327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Una lectura clara de cobertura, contexto, trazabilidad y gobierno.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B56F2-F2FC-4562-8F02-B4A083B4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05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2D93E-E068-4546-80E1-E262D2BE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57650"/>
            <a:ext cx="335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5"/>
                </a:solidFill>
              </a:defRPr>
            </a:pPr>
            <a:r>
              <a:rPr sz="1650" b="1">
                <a:solidFill>
                  <a:srgbClr val="0B1625"/>
                </a:solidFill>
              </a:rPr>
              <a:t>Backlog accionable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C45BB-B278-4259-B914-740E458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7197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Brechas ordenadas para decidir qué corregir primero.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98C94-967A-4469-AF25-4F723AAD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5905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77D0E-68CF-433E-A26E-4A93B09B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76D2"/>
                </a:solidFill>
              </a:defRPr>
            </a:pPr>
            <a:r>
              <a:rPr sz="1500" b="1">
                <a:solidFill>
                  <a:srgbClr val="2176D2"/>
                </a:solidFill>
              </a:rPr>
              <a:t>Resultado para el cliente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75892-4AC5-485C-B1BF-4731BCE4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5"/>
                </a:solidFill>
              </a:defRPr>
            </a:pPr>
            <a:r>
              <a:rPr sz="1650" b="1">
                <a:solidFill>
                  <a:srgbClr val="0B1625"/>
                </a:solidFill>
              </a:rPr>
              <a:t>Un punto de partida compartido para priorizar inversiones de datos, gobierno y automatización.</a:t>
            </a:r>
          </a:p>
        </p:txBody>
      </p:sp>
    </p:spTree>
    <p:extLst>
      <p:ext uri="{BB962C8B-B14F-4D97-AF65-F5344CB8AC3E}">
        <p14:creationId xmlns:p14="http://schemas.microsoft.com/office/powerpoint/2010/main" val="4600778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865A6-E2F9-43BA-824E-C55450B5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NEXO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9381D-212F-45F9-B541-67094F2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El conocimiento deja de ser una opinión cuando se puede revisar, decidir y versionar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24B01-DFD7-49F2-B77F-3296F2B5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F4B84-009A-4690-91A0-36449C11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13256-79B1-47EA-85B5-237E2E1A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6A291-6215-43FD-A079-8856249D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7905D-8582-47DE-BFE7-5FBD1A93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F"/>
                </a:solidFill>
              </a:defRPr>
            </a:pPr>
            <a:r>
              <a:rPr sz="1725" b="0">
                <a:solidFill>
                  <a:srgbClr val="52616F"/>
                </a:solidFill>
              </a:rPr>
              <a:t>Nexo convierte los hallazgos de Atlas en candidatos de negocio: conceptos, reglas y KPIs con evidencia. Las personas deciden qué queda aprobado y por qué.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5EB9E-B6F2-460D-8351-04B57E79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52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7F822-C301-4643-B0E0-97A78419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625"/>
                </a:solidFill>
              </a:defRPr>
            </a:pPr>
            <a:r>
              <a:rPr sz="1500" b="1">
                <a:solidFill>
                  <a:srgbClr val="0B1625"/>
                </a:solidFill>
              </a:rPr>
              <a:t>Evidencia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8E3AC-8696-42CB-BC1E-47D70413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Cada elemento conserva la fuente que lo respalda.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06673-5E55-4A14-85A7-4291E6BA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552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ECCC6-44C2-42DF-A307-ED9B3C3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625"/>
                </a:solidFill>
              </a:defRPr>
            </a:pPr>
            <a:r>
              <a:rPr sz="1500" b="1">
                <a:solidFill>
                  <a:srgbClr val="0B1625"/>
                </a:solidFill>
              </a:rPr>
              <a:t>Decisión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68895-4161-401E-BFF3-7BE3B70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576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Aprobaciones, rechazos y consolidaciones quedan auditables.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B07AA-2CC2-4456-BD5B-10F150BF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552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2EF41-430C-44D9-8260-F4EA7140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625"/>
                </a:solidFill>
              </a:defRPr>
            </a:pPr>
            <a:r>
              <a:rPr sz="1500" b="1">
                <a:solidFill>
                  <a:srgbClr val="0B1625"/>
                </a:solidFill>
              </a:rPr>
              <a:t>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0A5FA-6847-4FFE-BA23-8EEF2EC0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387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Sólo el conocimiento revisado pasa a ser reutilizable.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BAB5A-3626-4C02-BBAD-DB5B8578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2385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3306E-09DD-49C9-80A6-EAAB3E60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48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 hallazgo a activo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B33F9-1AD4-4A73-BB80-365DA825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433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Sin decisiones ocultas.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Sin publicación automática.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Sin perder la evidencia.</a:t>
            </a:r>
          </a:p>
        </p:txBody>
      </p:sp>
    </p:spTree>
    <p:extLst>
      <p:ext uri="{BB962C8B-B14F-4D97-AF65-F5344CB8AC3E}">
        <p14:creationId xmlns:p14="http://schemas.microsoft.com/office/powerpoint/2010/main" val="3095426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B8042-6D0C-4046-ACE7-A12648CA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ARGOS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2824F-0C62-4086-9EB8-46E7B9C2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Un investigador útil no es el que responde todo: es el que sabe cuándo no debe responder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4478B-3F99-446F-8802-24A3331B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C7D81-DBC6-4CAA-9446-215918B7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46E91-7B2B-4E9A-BEDE-43620CB4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E76DC-96F8-4667-9E80-A2F6D554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8696E-B9EE-4E2A-9A25-21F028D5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F"/>
                </a:solidFill>
              </a:defRPr>
            </a:pPr>
            <a:r>
              <a:rPr sz="1725" b="0">
                <a:solidFill>
                  <a:srgbClr val="52616F"/>
                </a:solidFill>
              </a:rPr>
              <a:t>Argos se apoya en releases aprobadas. Puede guiar a equipos, explicar términos y ayudar a investigar sin saltarse las definiciones, fuentes o límites definidos por la organización.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5D18A-6A4B-48C3-A03C-04501CA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695B2-3331-428F-A132-A4B16080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936F"/>
          </a:solidFill>
          <a:ln xmlns:a="http://schemas.openxmlformats.org/drawingml/2006/main" w="9525">
            <a:solidFill>
              <a:srgbClr val="1A93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0398C-1135-465B-996D-0EDA535A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936F"/>
                </a:solidFill>
              </a:defRPr>
            </a:pPr>
            <a:r>
              <a:rPr sz="975" b="1">
                <a:solidFill>
                  <a:srgbClr val="1A936F"/>
                </a:solidFill>
              </a:rPr>
              <a:t>CONFIANZA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E64E8-C0AF-4828-911F-AE13B9FB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Respuestas con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9DDB3-0F2D-41FC-9E14-D20613FF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Las respuestas parten de conocimiento aprobado, no de una búsqueda libre sin marco.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FD7D2-829D-46A2-8276-546629B8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20EB0-3A98-408E-9257-9A310CEF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2FA02-8B4F-4646-9C95-49668F7A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052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TRAZABILIDAD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F4AE4-E817-44D5-812A-74ED8C35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290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Evidencia visible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2C48D-7121-45FB-9232-2EAA0EF1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77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Cada consulta puede volver a la definición, regla o fuente que la respalda.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28D27-6165-455B-85CE-58F92E5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248FE-D3DA-451C-91CA-BE1643E3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C63"/>
          </a:solidFill>
          <a:ln xmlns:a="http://schemas.openxmlformats.org/drawingml/2006/main" w="9525">
            <a:solidFill>
              <a:srgbClr val="B24C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1AA26-F8FD-40DE-93AA-2AFB536B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4C63"/>
                </a:solidFill>
              </a:defRPr>
            </a:pPr>
            <a:r>
              <a:rPr sz="975" b="1">
                <a:solidFill>
                  <a:srgbClr val="B24C63"/>
                </a:solidFill>
              </a:rPr>
              <a:t>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09106-74E5-468A-8850-F0469BDF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Abstención explícita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B9DD0-38E6-4043-AA77-4E98017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577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Cuando no hay evidencia suficiente, el producto declara el límite en lugar de inventar.</a:t>
            </a:r>
          </a:p>
        </p:txBody>
      </p:sp>
    </p:spTree>
    <p:extLst>
      <p:ext uri="{BB962C8B-B14F-4D97-AF65-F5344CB8AC3E}">
        <p14:creationId xmlns:p14="http://schemas.microsoft.com/office/powerpoint/2010/main" val="5703422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B81C0-10F7-4B5F-8F05-408F8857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POR QUÉ COMPRARLO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F792B-E8AA-4987-952F-E9E4D712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ONTO convierte la complejidad de información en una ventaja operativa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C3261-85BF-4439-8FD7-CDDD9277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550CD-541A-4598-9FC5-9CB23F4C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F0E6C-34AA-4C2D-88CA-5878A21A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343E2-EDF2-4682-A387-6ADFF7EB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3ACA2-3CD3-4ED2-BD7D-3C2C1079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76D2"/>
                </a:solidFill>
              </a:defRPr>
            </a:pPr>
            <a:r>
              <a:rPr sz="1650" b="1">
                <a:solidFill>
                  <a:srgbClr val="2176D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CDD6B-FAE3-47D7-AF30-BCD57E16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625"/>
                </a:solidFill>
              </a:defRPr>
            </a:pPr>
            <a:r>
              <a:rPr sz="1875" b="1">
                <a:solidFill>
                  <a:srgbClr val="0B1625"/>
                </a:solidFill>
              </a:rPr>
              <a:t>Acelera decisiones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F0999-1A48-4F3A-B9B8-CC62495A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28875"/>
            <a:ext cx="423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Menos tiempo reconstruyendo contexto; más tiempo actuando sobre información entendida.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E40BA-6C3D-4199-A8B2-72DD6D6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00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76D2"/>
                </a:solidFill>
              </a:defRPr>
            </a:pPr>
            <a:r>
              <a:rPr sz="1650" b="1">
                <a:solidFill>
                  <a:srgbClr val="2176D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2B1CD-FB69-40E7-841C-CD92B8F4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625"/>
                </a:solidFill>
              </a:defRPr>
            </a:pPr>
            <a:r>
              <a:rPr sz="1875" b="1">
                <a:solidFill>
                  <a:srgbClr val="0B1625"/>
                </a:solidFill>
              </a:rPr>
              <a:t>Reduce riesgo semántico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579D9-DF5D-412A-90AC-03335D4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28875"/>
            <a:ext cx="423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Definiciones, reglas y límites dejan de depender de interpretaciones individuales.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6600C-10F6-4FFF-8582-7D4FFCA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76D2"/>
                </a:solidFill>
              </a:defRPr>
            </a:pPr>
            <a:r>
              <a:rPr sz="1650" b="1">
                <a:solidFill>
                  <a:srgbClr val="2176D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22525-17B4-43BD-BC89-62B33254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1475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625"/>
                </a:solidFill>
              </a:defRPr>
            </a:pPr>
            <a:r>
              <a:rPr sz="1875" b="1">
                <a:solidFill>
                  <a:srgbClr val="0B1625"/>
                </a:solidFill>
              </a:rPr>
              <a:t>Hace viable la IA útil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0A89C-49DB-40FB-9A7A-E4583A69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43375"/>
            <a:ext cx="423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Los agentes parten de conocimiento aprobado y saben cuándo abstenerse.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319A0-E1E7-4119-960F-0B596D04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714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76D2"/>
                </a:solidFill>
              </a:defRPr>
            </a:pPr>
            <a:r>
              <a:rPr sz="1650" b="1">
                <a:solidFill>
                  <a:srgbClr val="2176D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A7431-A50B-41AB-9073-252499F3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625"/>
                </a:solidFill>
              </a:defRPr>
            </a:pPr>
            <a:r>
              <a:rPr sz="1875" b="1">
                <a:solidFill>
                  <a:srgbClr val="0B1625"/>
                </a:solidFill>
              </a:rPr>
              <a:t>Protege la inversión existente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7350D-50DD-4A43-BECB-63AF2DAC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43375"/>
            <a:ext cx="423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Aprovecha los activos ya construidos antes de reemplazar o duplicar plataformas.</a:t>
            </a:r>
          </a:p>
        </p:txBody>
      </p:sp>
    </p:spTree>
    <p:extLst>
      <p:ext uri="{BB962C8B-B14F-4D97-AF65-F5344CB8AC3E}">
        <p14:creationId xmlns:p14="http://schemas.microsoft.com/office/powerpoint/2010/main" val="9529239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48F51-54C2-46A2-B2EF-13464FA9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ENCAJE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2187E-188E-4DA0-A0EF-B9D882BA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No obliga a reemplazar el ecosistema: le da una capa de significado y gobierno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96FFF-6304-4895-BA7C-73FA395C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8D89F-CF2D-4681-A2CD-35E2EE32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587BF-A539-4BD8-A732-BEE87D3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D5AFF-B81A-4291-8A00-42AC31B0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6B512-32BC-41C1-A0FD-09D79C26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F"/>
                </a:solidFill>
              </a:defRPr>
            </a:pPr>
            <a:r>
              <a:rPr sz="1725" b="0">
                <a:solidFill>
                  <a:srgbClr val="52616F"/>
                </a:solidFill>
              </a:rPr>
              <a:t>La iniciativa puede partir de Power BI/Fabric, Databricks, warehouse, modelos semánticos, documentación funcional u otras fuentes autorizadas. ONTO mantiene un modelo canónico propio y se integra de forma progresiva.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46E4F-7DAB-4A89-8172-3EDEF151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057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0EED9-AB86-425E-AE17-71EFB39A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16F"/>
                </a:solidFill>
              </a:defRPr>
            </a:pPr>
            <a:r>
              <a:rPr sz="1500" b="1">
                <a:solidFill>
                  <a:srgbClr val="52616F"/>
                </a:solidFill>
              </a:rPr>
              <a:t>Ecosistema actual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98342-EC19-4A06-B14A-1739AC95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625"/>
                </a:solidFill>
              </a:defRPr>
            </a:pPr>
            <a:r>
              <a:rPr sz="2025" b="1">
                <a:solidFill>
                  <a:srgbClr val="0B1625"/>
                </a:solidFill>
              </a:rPr>
              <a:t>Modelos · Reportes · Datos · Procesos · Documentación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36CBC-0776-4B58-A1EF-388FA5A0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8572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D1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1CCA3-9662-42A1-847C-FBBC520A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76D2"/>
                </a:solidFill>
              </a:defRPr>
            </a:pPr>
            <a:r>
              <a:rPr sz="1425" b="1">
                <a:solidFill>
                  <a:srgbClr val="2176D2"/>
                </a:solidFill>
              </a:rPr>
              <a:t>ONTO aporta: contexto compartido, decisiones auditables y conocimiento portable</a:t>
            </a:r>
          </a:p>
        </p:txBody>
      </p:sp>
    </p:spTree>
    <p:extLst>
      <p:ext uri="{BB962C8B-B14F-4D97-AF65-F5344CB8AC3E}">
        <p14:creationId xmlns:p14="http://schemas.microsoft.com/office/powerpoint/2010/main" val="15877106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A219A-88C3-4383-884A-6BBEE813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CÓMO EMPEZAR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0B6BC-B611-4DBF-9CA1-6650FA36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Un piloto breve permite probar valor antes de escalar arquitectura o plataforma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1F9DE-56F6-4C80-911E-7C15268D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453B1-1790-4661-8D2A-5099B1BA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DB1EB-D1A7-4C8E-8F45-063C45CD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AF23B-7590-4024-9961-06646BD7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99636-FE19-4D82-B0CF-F969C195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76D2"/>
                </a:solidFill>
              </a:defRPr>
            </a:pPr>
            <a:r>
              <a:rPr sz="1650" b="1">
                <a:solidFill>
                  <a:srgbClr val="2176D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52A7C-5409-49C5-B4F8-E238A0E8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D1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C20C4-BE54-4409-BE32-59B52122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625"/>
                </a:solidFill>
              </a:defRPr>
            </a:pPr>
            <a:r>
              <a:rPr sz="1725" b="1">
                <a:solidFill>
                  <a:srgbClr val="0B1625"/>
                </a:solidFill>
              </a:rPr>
              <a:t>Elegir un dominio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BDE6C-AACE-4F25-BF97-C1004E43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Un caso donde existan activos reales y necesidad de decisión.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33463-88A1-4D4C-B8DE-31BDFA95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90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76D2"/>
                </a:solidFill>
              </a:defRPr>
            </a:pPr>
            <a:r>
              <a:rPr sz="1650" b="1">
                <a:solidFill>
                  <a:srgbClr val="2176D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02652-F5D1-4A50-8BA9-BC0CED9C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647950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D1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27D00-CDA7-4142-9A9F-823E60B9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527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625"/>
                </a:solidFill>
              </a:defRPr>
            </a:pPr>
            <a:r>
              <a:rPr sz="1725" b="1">
                <a:solidFill>
                  <a:srgbClr val="0B1625"/>
                </a:solidFill>
              </a:rPr>
              <a:t>Ejecutar Atlas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04102-DCB5-4600-A500-E7F66285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385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Inventario, contexto, evidencia y brechas priorizadas.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E0370-29A6-4AC4-BDA4-10F7CE1E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76D2"/>
                </a:solidFill>
              </a:defRPr>
            </a:pPr>
            <a:r>
              <a:rPr sz="1650" b="1">
                <a:solidFill>
                  <a:srgbClr val="2176D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293BE-5D3A-4B02-A70F-6189AD7A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D1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4AAF7-5343-4E17-860F-CE17674E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527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625"/>
                </a:solidFill>
              </a:defRPr>
            </a:pPr>
            <a:r>
              <a:rPr sz="1725" b="1">
                <a:solidFill>
                  <a:srgbClr val="0B1625"/>
                </a:solidFill>
              </a:rPr>
              <a:t>Validar en Nexo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438A6-928F-47E6-9480-0D75F9A8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385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Revisar candidatos y emitir una primera release.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911BC-87BF-42AF-8350-B768110E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190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76D2"/>
                </a:solidFill>
              </a:defRPr>
            </a:pPr>
            <a:r>
              <a:rPr sz="1650" b="1">
                <a:solidFill>
                  <a:srgbClr val="2176D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75603-8043-4133-8CD6-12B0B807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647950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D1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0C727-1C2E-48A4-83E1-4D575C20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9527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625"/>
                </a:solidFill>
              </a:defRPr>
            </a:pPr>
            <a:r>
              <a:rPr sz="1725" b="1">
                <a:solidFill>
                  <a:srgbClr val="0B1625"/>
                </a:solidFill>
              </a:rPr>
              <a:t>Probar Argos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3D192-BB5A-4CCE-AF67-17A4CD48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6385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Resolver preguntas reales sobre conocimiento gobernado.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EEAEB-84BD-440B-8358-73DBC5DF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0572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E3A82-7992-4875-BFE3-5B9F0144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El resultado del piloto no es una demo: es evidencia para decidir cómo y dónde escalar.</a:t>
            </a:r>
          </a:p>
        </p:txBody>
      </p:sp>
    </p:spTree>
    <p:extLst>
      <p:ext uri="{BB962C8B-B14F-4D97-AF65-F5344CB8AC3E}">
        <p14:creationId xmlns:p14="http://schemas.microsoft.com/office/powerpoint/2010/main" val="15227088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60BF5F-730A-45A5-AD01-3E0552BF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6D2"/>
                </a:solidFill>
              </a:defRPr>
            </a:pPr>
            <a:r>
              <a:rPr sz="975" b="1">
                <a:solidFill>
                  <a:srgbClr val="2176D2"/>
                </a:solidFill>
              </a:rPr>
              <a:t>ENTREGABLES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48F3E-7951-41A6-BA84-923CA308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25"/>
                </a:solidFill>
              </a:defRPr>
            </a:pPr>
            <a:r>
              <a:rPr sz="2850" b="1">
                <a:solidFill>
                  <a:srgbClr val="0B1625"/>
                </a:solidFill>
              </a:rPr>
              <a:t>El cliente recibe activos que puede seguir usando, no sólo una presentación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C0CBE-2722-48B0-8B16-209C1492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774FE-6613-47FE-BD71-C5B3EE77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390D9-7AA3-4B59-89B7-0471BC0D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ONTO · Ontology 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BF43D-D573-4FE9-941C-847508CA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0DA90-DFA5-4328-9E6B-DADBA72E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6846D-28B1-4148-98A6-A9161B13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933D0-A90A-4ED6-A4BB-F46A911A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41694-FD54-4EBF-BCC7-5C857434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Diagnóstico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875B0-01E0-4A80-A010-A213A8D9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Assessment con inventario, readiness, evidencia y backlog.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90998-352C-41A2-87A2-85531F93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266E5-B837-4CA7-BF3D-3318F5E0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BF374-7BFD-4DCE-8989-89EA9F8F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5CACC-FE08-4D98-8AD7-F6F9B58E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Conocimiento validado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91BE2-3821-4890-B209-CBEA156F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766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Release con definiciones, reglas y KPIs aprobados.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477EA-F3DC-4B76-B33E-C9AAD160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D69A9-D792-4952-872A-0B4C1824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936F"/>
          </a:solidFill>
          <a:ln xmlns:a="http://schemas.openxmlformats.org/drawingml/2006/main" w="9525">
            <a:solidFill>
              <a:srgbClr val="1A93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56A1D-3632-466C-B1A6-6B6F3D63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06996-0D73-45B7-B138-BF9B395C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Context pack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FE046-E776-40AF-91A8-3E45DFCF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Base reusable para asistentes, agentes y nuevos casos de uso.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728AD-534B-46AF-A4C1-C11FDB3C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0525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22D0C-20A4-4B87-B27B-1261ABE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05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936F"/>
          </a:solidFill>
          <a:ln xmlns:a="http://schemas.openxmlformats.org/drawingml/2006/main" w="9525">
            <a:solidFill>
              <a:srgbClr val="1A93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B5CF4-D265-4E52-9A67-FE51460C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8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D4E3E-2C86-4FC1-A322-B0FF3E7C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5"/>
                </a:solidFill>
              </a:defRPr>
            </a:pPr>
            <a:r>
              <a:rPr sz="1950" b="1">
                <a:solidFill>
                  <a:srgbClr val="0B1625"/>
                </a:solidFill>
              </a:rPr>
              <a:t>Decisiones trazables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1D1EB0-FDCA-470D-A2B8-5363F465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863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F"/>
                </a:solidFill>
              </a:defRPr>
            </a:pPr>
            <a:r>
              <a:rPr sz="1275" b="0">
                <a:solidFill>
                  <a:srgbClr val="52616F"/>
                </a:solidFill>
              </a:rPr>
              <a:t>Registro de revisiones que explica qué se aceptó y por qué.</a:t>
            </a:r>
          </a:p>
        </p:txBody>
      </p:sp>
    </p:spTree>
    <p:extLst>
      <p:ext uri="{BB962C8B-B14F-4D97-AF65-F5344CB8AC3E}">
        <p14:creationId xmlns:p14="http://schemas.microsoft.com/office/powerpoint/2010/main" val="7818317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A4A1A-B046-45D8-9B92-1F1EF924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EFF"/>
                </a:solidFill>
              </a:defRPr>
            </a:pPr>
            <a:r>
              <a:rPr sz="1050" b="1">
                <a:solidFill>
                  <a:srgbClr val="DDEEFF"/>
                </a:solidFill>
              </a:rPr>
              <a:t>PRÓXIMA DECISIÓN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79A00-74A4-42BB-939F-EDC22605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Elegir el primer dominio donde el conocimiento ya sea una limitación para decidir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682BA-120C-434F-AA69-CBFC08F0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6F0"/>
                </a:solidFill>
              </a:defRPr>
            </a:pPr>
            <a:r>
              <a:rPr sz="1800" b="0">
                <a:solidFill>
                  <a:srgbClr val="D8E6F0"/>
                </a:solidFill>
              </a:rPr>
              <a:t>Con un piloto acotado, ONTO puede demostrar valor sobre activos reales y construir la base para una IA más confiable.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93B4C-7AF5-4A8A-B0CB-24E5ACB5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21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D99E4-B624-4DAC-9D06-32C40380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Propuesta: iniciar Atlas sobre un dominio prioritario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38006-10BF-4FA8-86A9-7744458C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6D9"/>
                </a:solidFill>
              </a:defRPr>
            </a:pPr>
            <a:r>
              <a:rPr sz="1050" b="1">
                <a:solidFill>
                  <a:srgbClr val="AFC6D9"/>
                </a:solidFill>
              </a:rPr>
              <a:t>Ontology Factory · una iniciativa de conocimiento gobernado</a:t>
            </a:r>
          </a:p>
        </p:txBody>
      </p:sp>
    </p:spTree>
    <p:extLst>
      <p:ext uri="{BB962C8B-B14F-4D97-AF65-F5344CB8AC3E}">
        <p14:creationId xmlns:p14="http://schemas.microsoft.com/office/powerpoint/2010/main" val="1663473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2026-08-01T23:29:18.5320000Z</dcterms:created>
  <dcterms:modified xsi:type="dcterms:W3CDTF">2026-08-01T23:29:18.5320000Z</dcterms:modified>
</coreProperties>
</file>